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RxScope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B82F6"/>
                </a:solidFill>
                <a:latin typeface="Calibri"/>
              </a:defRPr>
            </a:pPr>
            <a:r>
              <a:t>AI-Based Medical Content Identification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Architecture &amp; Technical Proposal for RxNetwork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April 2026  •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493776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Current Industry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Brand safety vendors (IAS, DoubleVerify) classify to AVOID content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No solution classifies to SEEK HCP-targeted content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No medical entity resolution (NPI, UMLS, drug names)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No HCP vs consumer content distinction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493776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What RxNetwork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AI-driven classification of medically relevant, HCP-oriented content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Across Scribd, Slideshare &amp; other platforms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Pharmaceutical ad-targeting whitelist (CSV/XLSX)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Entity verification: physicians, pharma, medical institutions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06240"/>
            <a:ext cx="10241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RxScope Fills This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Medical taxonomy grounding (MeSH, ICD-10, DSM-5, IAB 3.1)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NPI-verified physician identification via federal registry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Document-level AI analysis with confidence scoring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 Programmatic ad-tech output format (CSV/XLSX + REST API)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How RxScope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15544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B82F6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Crawl sitemaps &amp;</a:t>
            </a:r>
            <a:br/>
            <a:r>
              <a:t>URL queues from</a:t>
            </a:r>
            <a:br/>
            <a:r>
              <a:t>target platforms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51760" y="15544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B82F6"/>
                </a:solidFill>
                <a:latin typeface="Calibri"/>
              </a:defRPr>
            </a:pPr>
            <a:r>
              <a:t>Scrape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Fetch content via</a:t>
            </a:r>
            <a:br/>
            <a:r>
              <a:t>Lightpanda (fast,</a:t>
            </a:r>
            <a:br/>
            <a:r>
              <a:t>robots.txt compliant)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59" y="15544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B82F6"/>
                </a:solidFill>
                <a:latin typeface="Calibri"/>
              </a:defRPr>
            </a:pPr>
            <a:r>
              <a:t>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79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Clean text, metadata,</a:t>
            </a:r>
            <a:br/>
            <a:r>
              <a:t>author info from</a:t>
            </a:r>
            <a:br/>
            <a:r>
              <a:t>HTML/PDF/PPT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59" y="15544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81"/>
                </a:solidFill>
                <a:latin typeface="Calibri"/>
              </a:defRPr>
            </a:pPr>
            <a:r>
              <a:t>Classify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79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AI classification</a:t>
            </a:r>
            <a:br/>
            <a:r>
              <a:t>via Claude + scispaCy</a:t>
            </a:r>
            <a:br/>
            <a:r>
              <a:t>+ MeSH/IAB mapping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52360" y="15544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81"/>
                </a:solidFill>
                <a:latin typeface="Calibri"/>
              </a:defRPr>
            </a:pPr>
            <a: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Entity resolution:</a:t>
            </a:r>
            <a:br/>
            <a:r>
              <a:t>NPI, RxNorm, FDA</a:t>
            </a:r>
            <a:br/>
            <a:r>
              <a:t>verification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052560" y="15544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Confidence scoring</a:t>
            </a:r>
            <a:br/>
            <a:r>
              <a:t>+ human review for</a:t>
            </a:r>
            <a:br/>
            <a:r>
              <a:t>edge cases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371600"/>
            <a:ext cx="1417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652760" y="15544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2560320"/>
            <a:ext cx="1280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CSV/XLSX whitelist</a:t>
            </a:r>
            <a:br/>
            <a:r>
              <a:t>+ REST API</a:t>
            </a:r>
            <a:br/>
            <a:r>
              <a:t>+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39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4937760"/>
            <a:ext cx="1024128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Key Differentiator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8720" y="5440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Multi-agent AI pipeline powered by LangGraph orchestrates specialized agents for each step.</a:t>
            </a:r>
            <a:br/>
            <a:r>
              <a:t>Claude Sonnet handles volume classification; Claude Opus handles edge cases. Human-in-the-loop for quality assurance.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606040" cy="3291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1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AI &amp;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783080"/>
            <a:ext cx="201168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Claude Sonnet 4 + Opus 4 (Anthropic)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LangGraph — agent orchestration (open-source)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LangSmith — monitoring &amp; observability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scispaCy + MedSpaCy — medical NLP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BiomedBERT — biomedical embeddings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280160"/>
            <a:ext cx="2606040" cy="3291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9" y="141731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Calibri"/>
              </a:defRPr>
            </a:pPr>
            <a:r>
              <a:t>Data &amp; Storage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59" y="1783080"/>
            <a:ext cx="201168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9" y="1874519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Supabase Pro — PostgreSQL 16 + pgvector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Mumbai region (lowest latency for India)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Upstash Redis — caching &amp; job queues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Cloudflare R2 — object storage (zero egress)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280160"/>
            <a:ext cx="2606040" cy="3291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1731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1783080"/>
            <a:ext cx="201168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74519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Lightpanda — fast, compliant web scraping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Cloudflare Workers — edge API ($5/mo)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Cloudflare Pages — dashboard hosting ($0)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BrightData — rotating residential proxies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280160"/>
            <a:ext cx="2606040" cy="3291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41731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78BFA"/>
                </a:solidFill>
                <a:latin typeface="Calibri"/>
              </a:defRPr>
            </a:pPr>
            <a:r>
              <a:t>Medical APIs (All FREE)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72600" y="1783080"/>
            <a:ext cx="201168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874519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NPI Registry — physician verification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RxNorm — drug name resolution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FDA NDC — drug identification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UMLS — medical concept crosswalk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  •  MeSH — medical subject headings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60704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LangGraph vs LangSmith — They Are DIFFERENT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LangGraph = the ENGINE (builds the AI pipeline)</a:t>
            </a:r>
            <a:br/>
            <a:r>
              <a:t>  • Open-source, MIT license, $0 cost</a:t>
            </a:r>
            <a:br/>
            <a:r>
              <a:t>  • Orchestrates agents: scrape → classify →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492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LangSmith = the DASHBOARD (monitors the pipeline)</a:t>
            </a:r>
            <a:br/>
            <a:r>
              <a:t>  • SaaS platform, free tier available</a:t>
            </a:r>
            <a:br/>
            <a:r>
              <a:t>  • Traces every decision, measures cost &amp; accuracy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Database &amp; Hosting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Calibri"/>
              </a:defRPr>
            </a:pPr>
            <a:r>
              <a:t>PostgreSQL + pgvector (on Supabase Pro) — NOT MongoDB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502920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✅  PostgreSQL + pgvector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Native vector search — single DB for everything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Full ACID compliance — no duplicate URLs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Foreign keys for entity relationships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SQL → CSV export (client requirement)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LangGraph first-class checkpointer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Supabase Pro: Mumbai region, $25/mo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02920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❌  MongoDB (Rejected)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Separate Atlas Vector Search needed ($$$)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No JOINs — denormalized data mess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Limited multi-doc transactions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Complex aggregation for CSV export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No official LangGraph checkpointer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Wrong tool for relational medical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37760"/>
            <a:ext cx="1024128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Supabase Pro — Key 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440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Mumbai region (ap-south-1) — India data residency</a:t>
            </a:r>
            <a:br/>
            <a:r>
              <a:t>• NOT blocked in India — fully accessible</a:t>
            </a:r>
            <a:br/>
            <a:r>
              <a:t>• pgvector built-in, PgBouncer connection pooling</a:t>
            </a:r>
            <a:br/>
            <a:r>
              <a:t>• Built-in dashboard for DB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40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$25/mo base + $10 compute (with $10 credit)</a:t>
            </a:r>
            <a:br/>
            <a:r>
              <a:t>• 8GB disk included in Pro plan</a:t>
            </a:r>
            <a:br/>
            <a:r>
              <a:t>• Auth, Storage, Edge Functions included</a:t>
            </a:r>
            <a:br/>
            <a:r>
              <a:t>• Scales to 16XL ($3,730/mo) if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RxNetwork Gets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1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AI Classification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Automated identification of HCP-oriented</a:t>
            </a:r>
            <a:br/>
            <a:r>
              <a:t>content across multiple platforms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280160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9" y="141731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9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Excel-Compatible Whitelist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Deduplicated URL list in CSV/XLSX</a:t>
            </a:r>
            <a:br/>
            <a:r>
              <a:t>with full metadata &amp; confidence scores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280160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1731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🖥️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Real-time monitoring, search, export,</a:t>
            </a:r>
            <a:br/>
            <a:r>
              <a:t>and human-in-the-loop review panel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280160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41731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REST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Programmatic whitelist access</a:t>
            </a:r>
            <a:br/>
            <a:r>
              <a:t>for DSP integration (OpenRTB ready)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79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7763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4339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Entity 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75487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NPI-verified physicians, FDA-validated</a:t>
            </a:r>
            <a:br/>
            <a:r>
              <a:t>drugs, verified institutions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39" y="3840479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599" y="397763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🏷️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599" y="434339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Multi-Taxonomy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99" y="475487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IAB 3.1, MeSH, ICD-10, DSM-5,</a:t>
            </a:r>
            <a:br/>
            <a:r>
              <a:t>RxNorm — all mapped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3840479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97763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34339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Ongoing Re-validation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75487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Scheduled re-scraping ensures</a:t>
            </a:r>
            <a:br/>
            <a:r>
              <a:t>URLs remain current &amp; accurate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3840479"/>
            <a:ext cx="2606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397763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34339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Full Audit Trail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75487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Every classification decision is</a:t>
            </a:r>
            <a:br/>
            <a:r>
              <a:t>traceable &amp; explainable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83080"/>
            <a:ext cx="18288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Total URLs, whitelist count,</a:t>
            </a:r>
            <a:br/>
            <a:r>
              <a:t>confidence distribution,</a:t>
            </a:r>
            <a:br/>
            <a:r>
              <a:t>processing queue status,</a:t>
            </a:r>
            <a:br/>
            <a:r>
              <a:t>system health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383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173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Calibri"/>
              </a:defRPr>
            </a:pPr>
            <a:r>
              <a:t>Whitelist Explorer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783080"/>
            <a:ext cx="18288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Searchable/filterable table,</a:t>
            </a:r>
            <a:br/>
            <a:r>
              <a:t>export to CSV/XLSX,</a:t>
            </a:r>
            <a:br/>
            <a:r>
              <a:t>confidence &amp; category filters,</a:t>
            </a:r>
            <a:br/>
            <a:r>
              <a:t>inline URL preview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383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Calibri"/>
              </a:defRPr>
            </a:pPr>
            <a:r>
              <a:t>HITL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783080"/>
            <a:ext cx="18288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202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Low-confidence queue,</a:t>
            </a:r>
            <a:br/>
            <a:r>
              <a:t>one-click approve/reject,</a:t>
            </a:r>
            <a:br/>
            <a:r>
              <a:t>override with reason,</a:t>
            </a:r>
            <a:br/>
            <a:r>
              <a:t>reviewer 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79"/>
            <a:ext cx="3383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7763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Calibri"/>
              </a:defRPr>
            </a:pPr>
            <a:r>
              <a:t>Entity Browser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343399"/>
            <a:ext cx="18288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8055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Browse by: pharma, schools,</a:t>
            </a:r>
            <a:br/>
            <a:r>
              <a:t>physicians, biotech,</a:t>
            </a:r>
            <a:br/>
            <a:r>
              <a:t>device manufacturers,</a:t>
            </a:r>
            <a:br/>
            <a:r>
              <a:t>medical institutions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840479"/>
            <a:ext cx="3383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97763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4343399"/>
            <a:ext cx="18288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5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Accuracy over time,</a:t>
            </a:r>
            <a:br/>
            <a:r>
              <a:t>Claude API cost tracking,</a:t>
            </a:r>
            <a:br/>
            <a:r>
              <a:t>processing speed metrics,</a:t>
            </a:r>
            <a:br/>
            <a:r>
              <a:t>exportable reports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840479"/>
            <a:ext cx="33832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97763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Calibri"/>
              </a:defRPr>
            </a:pPr>
            <a:r>
              <a:t>Settings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343399"/>
            <a:ext cx="18288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48055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Confidence thresholds,</a:t>
            </a:r>
            <a:br/>
            <a:r>
              <a:t>platform management,</a:t>
            </a:r>
            <a:br/>
            <a:r>
              <a:t>re-scrape scheduling,</a:t>
            </a:r>
            <a:br/>
            <a:r>
              <a:t>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Tech: Next.js on Cloudflare Pages ($0 hosting)  •  Auth via Supabase  •  Real-time updates via Supabase Realtime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Monthly Infrastructure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383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82F6"/>
                </a:solidFill>
                <a:latin typeface="Calibri"/>
              </a:defRPr>
            </a:pPr>
            <a:r>
              <a:t>Small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100K URLs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965960"/>
            <a:ext cx="265176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Database (Supabase)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AI (Claude API)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$50–100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Scraping (VPS)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7889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08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Redis / Queues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108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29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API (CF Workers)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429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749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Storage (R2)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7490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0690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6907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389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Proxies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3891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$50–100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800600"/>
            <a:ext cx="265176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937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$170–300/mo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1188720"/>
            <a:ext cx="3383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1280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Calibri"/>
              </a:defRPr>
            </a:pPr>
            <a:r>
              <a:t>Medium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16459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1M URLs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965960"/>
            <a:ext cx="265176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0" y="2148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Database (Supabase)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AI (Claude API)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79" y="24688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$500–1,000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2788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Scraping (VPS)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27889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108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Redis / Queues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79" y="3108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3429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API (CF Workers)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79" y="3429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749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Storage (R2)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79" y="37490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0690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Monitoring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79" y="406907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$164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389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Proxies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79" y="43891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$100–200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4800600"/>
            <a:ext cx="265176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937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$1,004–1,704/mo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1188720"/>
            <a:ext cx="3383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3880" y="1280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Large Scale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83880" y="16459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50M URLs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965960"/>
            <a:ext cx="26517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2148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Database (Supabase)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$275–400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AI (Claude API)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24688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$10.5K–25K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2788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Scraping (VPS)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41280" y="27889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$200–500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108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Redis / Queues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3108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$50–100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3429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API (CF Workers)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3429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$5–45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749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Storage (R2)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41280" y="37490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$15–75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40690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Monitoring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41280" y="406907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$300–500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1040" y="4389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Proxies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41280" y="43891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$500–1K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12480" y="4800600"/>
            <a:ext cx="26517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92640" y="4937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$12K–28K/mo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9E0B"/>
                </a:solidFill>
                <a:latin typeface="Calibri"/>
              </a:defRPr>
            </a:pPr>
            <a:r>
              <a:t>⚡ Claude API is the dominant cost. Batch processing &amp; pre-filtering can reduce it 50–70%.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Development Timeline &amp; Milestones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1417319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08760" y="1737360"/>
            <a:ext cx="36576" cy="6400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1325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25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325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Week 4–5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2801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Working classifier on 3,000 PubMed URLs</a:t>
            </a:r>
            <a:br/>
            <a:r>
              <a:t>with accuracy report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242316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8760" y="2743200"/>
            <a:ext cx="36576" cy="6400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Entity Resolution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Week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2860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Drug, physician &amp; org verification</a:t>
            </a:r>
            <a:br/>
            <a:r>
              <a:t>working on test data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342900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08760" y="3749039"/>
            <a:ext cx="36576" cy="6400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3337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337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First Whitelist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Week 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918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100K URL whitelist delivered in</a:t>
            </a:r>
            <a:br/>
            <a:r>
              <a:t>CSV/XLSX format</a:t>
            </a:r>
          </a:p>
        </p:txBody>
      </p:sp>
      <p:sp>
        <p:nvSpPr>
          <p:cNvPr id="22" name="Oval 21"/>
          <p:cNvSpPr/>
          <p:nvPr/>
        </p:nvSpPr>
        <p:spPr>
          <a:xfrm>
            <a:off x="1371600" y="44348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508760" y="4754880"/>
            <a:ext cx="36576" cy="6400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20240" y="4343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343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343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Week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976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Dashboard with search, export,</a:t>
            </a:r>
            <a:br/>
            <a:r>
              <a:t>and HITL review system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54406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20240" y="5349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M5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Production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5349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Week 18–22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3035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Full system at target scale</a:t>
            </a:r>
            <a:br/>
            <a:r>
              <a:t>with monitoring &amp; documentation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6309360"/>
            <a:ext cx="1024128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63276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0B981"/>
                </a:solidFill>
                <a:latin typeface="Calibri"/>
              </a:defRPr>
            </a:pPr>
            <a:r>
              <a:t>Each milestone = client demo point — see progress, give feedback, confirm direction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Cloudflare Services — What We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Calibri"/>
              </a:defRPr>
            </a:pPr>
            <a:r>
              <a:t>✅ 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9164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Workers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Whitelist API at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  <a:latin typeface="Calibri"/>
              </a:defRPr>
            </a:pPr>
            <a:r>
              <a:t>$5/mo for 10M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&lt;20ms response time globally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6888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14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R2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514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Document archival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  <a:latin typeface="Calibri"/>
              </a:defRPr>
            </a:pPr>
            <a:r>
              <a:t>$0.015/GB, ZERO egress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88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Perfect for raw HTML/PDF storage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24612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Hyperdrive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2918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PostgreSQL connection pooler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  <a:latin typeface="Calibri"/>
              </a:defRPr>
            </a:pPr>
            <a:r>
              <a:t>Free on paid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Pools connections to Supabase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2336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06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Dashboard 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Free static site hosting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Calibri"/>
              </a:defRPr>
            </a:pPr>
            <a:r>
              <a:t>❌  DON'T USE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69164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Browser Rendering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$2,430/mo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011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→ Lightpanda is 50x cheaper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46888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514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Workers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5146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No biomedical 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788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→ Only sentiment analysis available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24612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29183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D1 Database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SQLite-based, max 5GB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→ Cannot replace PostgreSQL + pgvector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023360"/>
            <a:ext cx="5029200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069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Vectorize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069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$19,200/mo at 50M URLs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343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→ pgvector is included free on Supabase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029200"/>
            <a:ext cx="1024128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Fact-Checked Against Official Cloudflare Documentation (April 2026)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5440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Workers: $5/mo + $0.30/M requests  •  R2: $0.015/GB + $0 egress  •  Hyperdrive: Free PG pooling  •  Pages: Free hosting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Output: Whitelist Format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Excel-Compatible CSV/XLSX — Per RxNetwork Specification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91640"/>
            <a:ext cx="10241280" cy="36576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Required Columns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40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Deduplicated URL validated as HCP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97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source_domain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697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Platform domain (scribd.com, slideshare.net, etc.)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content_type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154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PDF, PPT, white paper, clinical summary, research poster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11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detected_medical_categories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MeSH codes + IAB categories (semicolon-separated)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69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detected_entity_associations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690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Org names, physician names, drug names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confidence_score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526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Classification confidence (0.00–1.00)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577840"/>
            <a:ext cx="102412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Extended Columns (Recommended)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audience_type  •  source_type  •  iab_category_codes  •  icd10_codes  •  dsm5_categories  •  fda_drug_names  •  mesh_codes  •  last_validated_at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Target Entity Categories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8 Entity Categories Per RxNetwork Specification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Pharmaceutical</a:t>
            </a:r>
            <a:br/>
            <a:r>
              <a:t>Manufacturers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FDA-verified pharma</a:t>
            </a:r>
            <a:br/>
            <a:r>
              <a:t>company identification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55448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169163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Medical Schools &amp;</a:t>
            </a:r>
            <a:br/>
            <a:r>
              <a:t>Academic Centers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26517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Accredited medical</a:t>
            </a:r>
            <a:br/>
            <a:r>
              <a:t>education institutions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55448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9163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Medical Trade</a:t>
            </a:r>
            <a:br/>
            <a:r>
              <a:t>Associations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517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AMA, specialty societies,</a:t>
            </a:r>
            <a:br/>
            <a:r>
              <a:t>professional 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69163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👨‍⚕️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Recognized</a:t>
            </a:r>
            <a:br/>
            <a:r>
              <a:t>Physicians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6517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NPI Registry verified,</a:t>
            </a:r>
            <a:br/>
            <a:r>
              <a:t>license-confirmed MDs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805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Healthcare</a:t>
            </a:r>
            <a:br/>
            <a:r>
              <a:t>Executives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C-suite and leadership</a:t>
            </a:r>
            <a:br/>
            <a:r>
              <a:t>in healthcare orgs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39" y="393192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599" y="4069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99" y="44805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Biotech</a:t>
            </a:r>
            <a:br/>
            <a:r>
              <a:t>Companies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99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Biotechnology firms,</a:t>
            </a:r>
            <a:br/>
            <a:r>
              <a:t>research companies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393192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4805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Medical Device</a:t>
            </a:r>
            <a:br/>
            <a:r>
              <a:t>Manufacturers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FDA-listed device</a:t>
            </a:r>
            <a:br/>
            <a:r>
              <a:t>companies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0" y="3931920"/>
            <a:ext cx="260604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4069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/>
              </a:defRPr>
            </a:pPr>
            <a:r>
              <a:t>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4805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Calibri"/>
              </a:defRPr>
            </a:pPr>
            <a:r>
              <a:t>Prominent Medical</a:t>
            </a:r>
            <a:br/>
            <a:r>
              <a:t>Institutions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Major hospitals, research</a:t>
            </a:r>
            <a:br/>
            <a:r>
              <a:t>centers, health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Important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3035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Calibri"/>
              </a:defRPr>
            </a:pPr>
            <a:r>
              <a:t>Scribd/SlideShare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Scribd has NO public API since 2017. Content access is limited to metadata scraping. Recommend as Phase 2 target — start with legally clean sources (PubMed, open-access journals) in Phase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188720"/>
            <a:ext cx="53035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Calibri"/>
              </a:defRPr>
            </a:pPr>
            <a:r>
              <a:t>Classification Accuracy Ramp-Up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Expect 85–90% accuracy initially, improving to 95%+ after human-in-the-loop feedback cycles. This is a 2–4 week tuning period after initial deployment.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53035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robots.txt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We respect robots.txt on all platforms. Some sites (WebMD, etc.) may limit scraping rate. This is a legal requirement for sustainable operation.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971800"/>
            <a:ext cx="53035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63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Calibri"/>
              </a:defRPr>
            </a:pPr>
            <a:r>
              <a:t>Ongoing Maintenance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290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Medical content changes constantly — new drugs, new guidelines, new HCPs. Whitelists need periodic re-scraping and re-classification to stay current.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53035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Calibri"/>
              </a:defRPr>
            </a:pPr>
            <a:r>
              <a:t>Cost Scales with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120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At 100K URLs: ~$200/month infrastructure. At 50M URLs: ~$15K–20K/month (dominated by Claude API). Pre-filtering reduces this 50–70%.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754880"/>
            <a:ext cx="53035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846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Dev Cost vs Infrastructure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2120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Development is a one-time cost. Infrastructure is monthly recurring. The quote should clearly separate these two components.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Questions We Need Answered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How many URLs in the first batch?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One-time batch or continuous system?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Dashboard required or CSV-only?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Who provides the seed URL list?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Expected turnaround time?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Which platforms are mandatory for Phase 1?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Specific DSP integration needed?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Budget range?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Immediate Action 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Confirm URL volume → finalizes cost quote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Decide: batch processing vs SaaS product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Confirm Phase 1 platform scope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Agree on milestone-based delivery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Sign-off on tech stack decisions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Kick off Phase 0: Foundation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Schedule weekly progress demos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 Begin 3,000-URL evaluation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669280"/>
            <a:ext cx="1024128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715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Ready to Begin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6080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Architecture is researched &amp; documented  •  Tech stack is selected  •  Cost models are built  •  Waiting for client confirmation to start Phase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