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E293B"/>
                </a:solidFill>
                <a:latin typeface="Calibri"/>
              </a:defRPr>
            </a:pPr>
            <a:r>
              <a:t>RxScope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29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563EB"/>
                </a:solidFill>
                <a:latin typeface="Calibri"/>
              </a:defRPr>
            </a:pPr>
            <a:r>
              <a:t>AI-Based Medical Content Identification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Technical Architecture &amp;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3657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  <a:latin typeface="Calibri"/>
              </a:defRPr>
            </a:pPr>
            <a:r>
              <a:t>Prepared for RxNetwork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57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April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What exists today falls short for HCP-targeted advertising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4937760" cy="24688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Current Industry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•  Brand safety vendors (IAS, DoubleVerify) classify to avoid — not seek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•  No solution targets HCP-oriented content specifically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•  No medical entity resolution (NPI, UMLS, drugs)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•  No HCP vs consumer content distinction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029200" cy="246888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What RxNetwork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•  AI-driven classification of medically relevant HCP content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•  Coverage across Scribd, Slideshare &amp; additional platforms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•  Pharma ad-targeting whitelist in Excel format (CSV/XLSX)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•  Verified entities: physicians, pharma, medical institutions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10332720" cy="18288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709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RxScope: 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20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  •  Medical taxonomy grounding — MeSH, ICD-10, DSM-5, IAB 3.1 mapping for DSP compatibility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  •  NPI-verified physician identification via federal registry — not guesswork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  •  Document-level AI analysis with ensemble confidence scoring (0–1.0)</a:t>
            </a:r>
          </a:p>
          <a:p>
            <a:pPr>
              <a:spcAft>
                <a:spcPts val="600"/>
              </a:spcAft>
              <a:defRPr sz="1300">
                <a:solidFill>
                  <a:srgbClr val="374151"/>
                </a:solidFill>
                <a:latin typeface="Calibri"/>
              </a:defRPr>
            </a:pPr>
            <a:r>
              <a:t>  •  Programmatic ad-tech output format — CSV/XLSX whitelist + REST API for real-time DSP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How RxScope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7-step AI pipeline from URL discovery to whitelist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444752" cy="301752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87451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Crawl sitemaps &amp;</a:t>
            </a:r>
            <a:br/>
            <a:r>
              <a:t>URL queues from</a:t>
            </a:r>
            <a:br/>
            <a:r>
              <a:t>target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0552" y="1691640"/>
            <a:ext cx="1444752" cy="301752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33472" y="187451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2" y="2377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Scrape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278892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Fetch content via</a:t>
            </a:r>
            <a:br/>
            <a:r>
              <a:t>headless browser,</a:t>
            </a:r>
            <a:br/>
            <a:r>
              <a:t>robots.txt compliant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8184" y="1691640"/>
            <a:ext cx="1444752" cy="301752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61104" y="187451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2377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3904" y="278892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Clean text, metadata</a:t>
            </a:r>
            <a:br/>
            <a:r>
              <a:t>author info from</a:t>
            </a:r>
            <a:br/>
            <a:r>
              <a:t>HTML / PDF / PPT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85816" y="1691640"/>
            <a:ext cx="1444752" cy="301752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88736" y="1874519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5" y="2377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Classify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278892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AI classification</a:t>
            </a:r>
            <a:br/>
            <a:r>
              <a:t>via Claude + scispaCy</a:t>
            </a:r>
            <a:br/>
            <a:r>
              <a:t>+ MeSH / IAB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3136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13448" y="1691640"/>
            <a:ext cx="1444752" cy="301752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16368" y="1874519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2377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278892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Entity resolution:</a:t>
            </a:r>
            <a:br/>
            <a:r>
              <a:t>NPI, RxNorm, FDA</a:t>
            </a:r>
            <a:br/>
            <a:r>
              <a:t>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1691640"/>
            <a:ext cx="1444752" cy="301752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0" y="1874519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377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78892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Ensemble confidence</a:t>
            </a:r>
            <a:br/>
            <a:r>
              <a:t>scoring + human</a:t>
            </a:r>
            <a:br/>
            <a:r>
              <a:t>review for edge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68712" y="1691640"/>
            <a:ext cx="1444752" cy="301752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1874519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0152" y="2377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Calibri"/>
              </a:defRPr>
            </a:pPr>
            <a: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278892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  <a:latin typeface="Calibri"/>
              </a:defRPr>
            </a:pPr>
            <a:r>
              <a:t>CSV/XLSX whitelist</a:t>
            </a:r>
            <a:br/>
            <a:r>
              <a:t>+ REST API</a:t>
            </a:r>
            <a:br/>
            <a:r>
              <a:t>+ Admin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029200"/>
            <a:ext cx="10332720" cy="13716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2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440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Multi-agent AI pipeline powered by LangGraph orchestrates specialized agents for each step.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Claude Sonnet handles volume classification. Claude Opus handles edge cases (0.6–0.8 confidence). Human-in-the-loop ensures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Production-grade, scalable, medical-domain optimized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651760" cy="32004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AI &amp; 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48840"/>
            <a:ext cx="192024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28600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Claude Sonnet 4 + Opus 4 (Anthropic)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LangGraph — agent orchestration (MIT, $0)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LangSmith — monitoring &amp; observability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scispaCy + MedSpaCy — medical NLP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BiomedBERT — biomedical embeddings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2651760" cy="320040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Data &amp; 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148840"/>
            <a:ext cx="192024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28600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PostgreSQL 16 + pgvector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Managed cloud database hosting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Redis — caching &amp; job queues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Cloudflare R2 — object 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91640"/>
            <a:ext cx="2651760" cy="32004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148840"/>
            <a:ext cx="192024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Lightpanda — headless browser scraping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Cloudflare Workers — edge API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Cloudflare Pages — dashboard hosting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Rotating residential proxies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91640"/>
            <a:ext cx="2651760" cy="320040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Medical APIs (All Free)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148840"/>
            <a:ext cx="192024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28600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NPI Registry — physician verification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RxNorm — drug name resolution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FDA NDC — drug identification</a:t>
            </a:r>
          </a:p>
          <a:p>
            <a:pPr>
              <a:spcAft>
                <a:spcPts val="600"/>
              </a:spcAft>
              <a:defRPr sz="1100">
                <a:solidFill>
                  <a:srgbClr val="374151"/>
                </a:solidFill>
                <a:latin typeface="Calibri"/>
              </a:defRPr>
            </a:pPr>
            <a:r>
              <a:t>  •  UMLS / MeSH — medical ontologies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20640"/>
            <a:ext cx="10881360" cy="12801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LangGraph = the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Open-source framework that builds the AI pipeline.</a:t>
            </a:r>
            <a:br/>
            <a:r>
              <a:t>Orchestrates agents: scrape → classify → score → store.</a:t>
            </a:r>
            <a:br/>
            <a:r>
              <a:t>Cost: $0 (MIT license)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LangSmith = the 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4864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SaaS platform that watches the pipeline in production.</a:t>
            </a:r>
            <a:br/>
            <a:r>
              <a:t>Traces every decision, measures cost &amp; accuracy.</a:t>
            </a:r>
            <a:br/>
            <a:r>
              <a:t>Free tier available; scales with usage.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PostgreSQL + pgvector — unified relational + vector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5029200" cy="274320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59669"/>
                </a:solidFill>
                <a:latin typeface="Calibri"/>
              </a:defRPr>
            </a:pPr>
            <a:r>
              <a:t>✓  PostgreSQL + pgvector (Selected)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Native vector search — single DB for everything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Full ACID compliance — guaranteed data consistency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Foreign keys for medical entity relationships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SQL → CSV/XLSX export (client requirement)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LangGraph first-class checkpointer support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Connection pooling via Hyperdrive (Cloudflare)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029200" cy="274320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C2626"/>
                </a:solidFill>
                <a:latin typeface="Calibri"/>
              </a:defRPr>
            </a:pPr>
            <a:r>
              <a:t>✗  MongoDB (Rejected)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Separate vector search service needed ($$$)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No JOINs — denormalized data management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Limited multi-document transactions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Complex aggregation pipelines for CSV export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No official LangGraph checkpointer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Wrong paradigm for relational medical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709160"/>
            <a:ext cx="10332720" cy="18288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Cloud Database 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663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Managed PostgreSQL with pgvector extension  •  Automatic backups &amp; connection pooling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Scalable compute from shared instances ($25/mo) to dedicated 16XL ($3,730/mo)</a:t>
            </a:r>
          </a:p>
          <a:p>
            <a:pPr algn="l">
              <a:spcAft>
                <a:spcPts val="439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8GB disk included in base plan  •  Scales seamlessly as data grows  •  Zero-downtime upgrades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What RxNetwork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Complete end-to-end medical content classification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651760" cy="20116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Calibri"/>
              </a:defRPr>
            </a:pPr>
            <a:r>
              <a:t>AI 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194560"/>
            <a:ext cx="173736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Automated identification of HCP-oriented</a:t>
            </a:r>
            <a:br/>
            <a:r>
              <a:t>content across multiple platforms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2651760" cy="20116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874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Calibri"/>
              </a:defRPr>
            </a:pPr>
            <a:r>
              <a:t>Excel Whitelist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194560"/>
            <a:ext cx="173736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Deduplicated URL list in CSV/XLSX</a:t>
            </a:r>
            <a:br/>
            <a:r>
              <a:t>with full metadata &amp; confidence scores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91640"/>
            <a:ext cx="2651760" cy="201168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74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194560"/>
            <a:ext cx="173736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Real-time monitoring, search, export,</a:t>
            </a:r>
            <a:br/>
            <a:r>
              <a:t>and human-in-the-loop review panel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91640"/>
            <a:ext cx="2651760" cy="201168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74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194560"/>
            <a:ext cx="173736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Programmatic whitelist access for DSP</a:t>
            </a:r>
            <a:br/>
            <a:r>
              <a:t>integration (OpenRTB compatible)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23360"/>
            <a:ext cx="2651760" cy="201168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7706"/>
                </a:solidFill>
                <a:latin typeface="Calibri"/>
              </a:defRPr>
            </a:pPr>
            <a:r>
              <a:t>Entity Verification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526280"/>
            <a:ext cx="173736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663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NPI-verified physicians, FDA-validated</a:t>
            </a:r>
            <a:br/>
            <a:r>
              <a:t>drugs, verified medical institutions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4023360"/>
            <a:ext cx="2651760" cy="201168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79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7706"/>
                </a:solidFill>
                <a:latin typeface="Calibri"/>
              </a:defRPr>
            </a:pPr>
            <a:r>
              <a:t>Multi-Taxonomy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4526280"/>
            <a:ext cx="173736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79" y="4663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IAB 3.1, MeSH, ICD-10, DSM-5, RxNorm</a:t>
            </a:r>
            <a:br/>
            <a:r>
              <a:t>— all mapped &amp; cross-referenced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023360"/>
            <a:ext cx="2651760" cy="201168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Calibri"/>
              </a:defRPr>
            </a:pPr>
            <a:r>
              <a:t>Re-validation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526280"/>
            <a:ext cx="173736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663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Scheduled re-scraping ensures URLs</a:t>
            </a:r>
            <a:br/>
            <a:r>
              <a:t>remain current and accurately classified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4023360"/>
            <a:ext cx="2651760" cy="201168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4526280"/>
            <a:ext cx="173736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4663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Every classification decision is</a:t>
            </a:r>
            <a:br/>
            <a:r>
              <a:t>fully traceable and explainable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Web-based control center for monitoring, review, and 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29000" cy="20116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59" y="2148840"/>
            <a:ext cx="1828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Total URLs processed, whitelist count,</a:t>
            </a:r>
            <a:br/>
            <a:r>
              <a:t>confidence distribution, queue status,</a:t>
            </a:r>
            <a:br/>
            <a:r>
              <a:t>system health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429000" cy="20116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Whitelist Explorer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148840"/>
            <a:ext cx="1828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Searchable and filterable table,</a:t>
            </a:r>
            <a:br/>
            <a:r>
              <a:t>export to CSV/XLSX, confidence and</a:t>
            </a:r>
            <a:br/>
            <a:r>
              <a:t>category filters, inline preview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91640"/>
            <a:ext cx="3429000" cy="201168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HITL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9" y="2148840"/>
            <a:ext cx="182880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2286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Low-confidence review queue,</a:t>
            </a:r>
            <a:br/>
            <a:r>
              <a:t>one-click approve/reject,</a:t>
            </a:r>
            <a:br/>
            <a:r>
              <a:t>override with audit reason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3429000" cy="201168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160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Entity Browser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" y="4480560"/>
            <a:ext cx="182880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6177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Browse by: pharmaceutical companies,</a:t>
            </a:r>
            <a:br/>
            <a:r>
              <a:t>physicians (NPI-verified), medical</a:t>
            </a:r>
            <a:br/>
            <a:r>
              <a:t>schools, biotech, institutions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023360"/>
            <a:ext cx="3429000" cy="201168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160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4480560"/>
            <a:ext cx="182880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6177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Accuracy over time, API cost tracking,</a:t>
            </a:r>
            <a:br/>
            <a:r>
              <a:t>processing speed metrics, content</a:t>
            </a:r>
            <a:br/>
            <a:r>
              <a:t>change rates, exportable reports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4023360"/>
            <a:ext cx="3429000" cy="201168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4160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Settings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9" y="4480560"/>
            <a:ext cx="1828800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46177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Confidence thresholds, platform</a:t>
            </a:r>
            <a:br/>
            <a:r>
              <a:t>management, re-scrape scheduling,</a:t>
            </a:r>
            <a:br/>
            <a:r>
              <a:t>API keys, user roles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Built with Next.js  •  Hosted on Cloudflare Pages ($0)  •  Real-time updates  •  Secure authentication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Output: Whitelist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Excel-compatible CSV/XLSX per RxNetwork 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10332720" cy="34747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Required Output Columns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103120"/>
            <a:ext cx="27432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  <a:latin typeface="Calibri"/>
              </a:defRPr>
            </a:pPr>
            <a:r>
              <a:t>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514600"/>
            <a:ext cx="94183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06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Deduplicated URL validated as HCP 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926080"/>
            <a:ext cx="94183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990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source_domain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900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Platform domain (e.g., scribd.com, slideshare.net)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310128"/>
            <a:ext cx="94183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3741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content_type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3741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PDF, PPT, white paper, clinical summary, research poster, educational material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694176"/>
            <a:ext cx="94183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581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detected_medical_categories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5818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MeSH codes + IAB categories (semicolon-separated)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078224"/>
            <a:ext cx="94183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142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detected_entity_associations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1422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Organization names, physician names, drug names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462272"/>
            <a:ext cx="94183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confidence_score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526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Overall classification confidence (0.00 – 1.00)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440680"/>
            <a:ext cx="10332720" cy="10972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532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Extended Columns (Recommended)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74151"/>
                </a:solidFill>
                <a:latin typeface="Calibri"/>
              </a:defRPr>
            </a:pPr>
            <a:r>
              <a:t>audience_type  •  source_type  •  iab_category_codes  •  icd10_codes  •  dsm5_categories  •  fda_drug_names  •  mesh_codes  •  last_validated_at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Target Entity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8 categories per RxNetwork specification — all verified against authoritative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651760" cy="196596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Pharmaceutical</a:t>
            </a:r>
            <a:br/>
            <a:r>
              <a:t>Manufacturers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377440"/>
            <a:ext cx="173736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FDA-verified pharma</a:t>
            </a:r>
            <a:br/>
            <a:r>
              <a:t>company identification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2651760" cy="196596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874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Medical Schools &amp;</a:t>
            </a:r>
            <a:br/>
            <a:r>
              <a:t>Academic Centers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377440"/>
            <a:ext cx="173736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2514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Accredited medical education</a:t>
            </a:r>
            <a:br/>
            <a:r>
              <a:t>institutions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91640"/>
            <a:ext cx="2651760" cy="196596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74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Medical Trade</a:t>
            </a:r>
            <a:br/>
            <a:r>
              <a:t>Associations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377440"/>
            <a:ext cx="173736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AMA, specialty societies,</a:t>
            </a:r>
            <a:br/>
            <a:r>
              <a:t>professional organizations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91640"/>
            <a:ext cx="2651760" cy="196596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74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Recognized</a:t>
            </a:r>
            <a:br/>
            <a:r>
              <a:t>Physicians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377440"/>
            <a:ext cx="173736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514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NPI Registry verified,</a:t>
            </a:r>
            <a:br/>
            <a:r>
              <a:t>license-confirmed MDs/DOs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77639"/>
            <a:ext cx="2651760" cy="196596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Calibri"/>
              </a:defRPr>
            </a:pPr>
            <a:r>
              <a:t>Healthcare</a:t>
            </a:r>
            <a:br/>
            <a:r>
              <a:t>Executives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663440"/>
            <a:ext cx="173736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C-suite and leadership</a:t>
            </a:r>
            <a:br/>
            <a:r>
              <a:t>in healthcare organizations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977639"/>
            <a:ext cx="2651760" cy="196596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79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Calibri"/>
              </a:defRPr>
            </a:pPr>
            <a:r>
              <a:t>Biotech</a:t>
            </a:r>
            <a:br/>
            <a:r>
              <a:t>Companies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4663440"/>
            <a:ext cx="173736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79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Biotechnology firms,</a:t>
            </a:r>
            <a:br/>
            <a:r>
              <a:t>research organizations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977639"/>
            <a:ext cx="2651760" cy="196596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Calibri"/>
              </a:defRPr>
            </a:pPr>
            <a:r>
              <a:t>Medical Device</a:t>
            </a:r>
            <a:br/>
            <a:r>
              <a:t>Manufacturers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663440"/>
            <a:ext cx="173736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FDA-listed medical device</a:t>
            </a:r>
            <a:br/>
            <a:r>
              <a:t>companies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977639"/>
            <a:ext cx="2651760" cy="196596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Calibri"/>
              </a:defRPr>
            </a:pPr>
            <a:r>
              <a:t>Prominent Medical</a:t>
            </a:r>
            <a:br/>
            <a:r>
              <a:t>Institutions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4663440"/>
            <a:ext cx="173736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Major hospitals, research</a:t>
            </a:r>
            <a:br/>
            <a:r>
              <a:t>centers, health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Cloud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Selective use of Cloudflare services — verified against official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Services We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5029200" cy="54864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Workers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Whitelist REST API at global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  <a:latin typeface="Calibri"/>
              </a:defRPr>
            </a:pPr>
            <a:r>
              <a:t>$5/mo for 10M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743200"/>
            <a:ext cx="5029200" cy="54864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R2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Document &amp; content archival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346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  <a:latin typeface="Calibri"/>
              </a:defRPr>
            </a:pPr>
            <a:r>
              <a:t>$0.015/GB, zero egress fees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83279"/>
            <a:ext cx="5029200" cy="54864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Hyperdrive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PostgreSQL connection pooler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474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  <a:latin typeface="Calibri"/>
              </a:defRPr>
            </a:pPr>
            <a:r>
              <a:t>Included on paid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23359"/>
            <a:ext cx="5029200" cy="54864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1479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1147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Admin dashboard 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1479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  <a:latin typeface="Calibri"/>
              </a:defRPr>
            </a:pPr>
            <a:r>
              <a:t>$0 — free static 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Services We Don't Use (and Why)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03120"/>
            <a:ext cx="5029200" cy="54864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Browser Rendering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Our scraping engine is 50x cheaper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743200"/>
            <a:ext cx="5029200" cy="54864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Workers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No biomedical classification models available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383279"/>
            <a:ext cx="5029200" cy="54864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D1 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SQLite-based — cannot replace PostgreSQL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23359"/>
            <a:ext cx="5029200" cy="54864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11479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Vectorize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1147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Cost-prohibitive at scale ($19K/mo at 50M URLs)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754880"/>
            <a:ext cx="10332720" cy="914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Calibri"/>
              </a:defRPr>
            </a:pPr>
            <a:r>
              <a:t>All pricing verified against official Cloudflare documentation (April 2026)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120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Workers: $5/mo + $0.30/M requests   •   R2: $0.015/GB + $0 egress   •   Hyperdrive: Free   •   Pages: Free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Development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One-time development cost — milestone-based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  <a:latin typeface="Calibri"/>
              </a:defRPr>
            </a:pPr>
            <a:r>
              <a:t>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B7280"/>
                </a:solidFill>
                <a:latin typeface="Calibri"/>
              </a:defRPr>
            </a:pPr>
            <a:r>
              <a:t>Duration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1965960"/>
            <a:ext cx="97840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057400"/>
            <a:ext cx="10332720" cy="43891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Phase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Infrastructure &amp;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103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DB schema, evaluation dataset, CI/CD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1–2 weeks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532888"/>
            <a:ext cx="103327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5786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578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Scraping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5786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Lightpanda, content extraction, proxy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78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2–3 weeks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008376"/>
            <a:ext cx="10332720" cy="43891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30540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0540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Classification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0540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LangGraph + Claude + scispaCy + NLP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054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3–4 weeks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483864"/>
            <a:ext cx="103327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35295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5295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Entity 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5295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NPI, RxNorm, FDA, UMLS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529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2–3 weeks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3959352"/>
            <a:ext cx="10332720" cy="43891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40050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005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Dashboard &amp;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0050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Admin panel, CSV/XLSX export, HITL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005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1–2 weeks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434840"/>
            <a:ext cx="103327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4480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Tuning &amp; QA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4480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Accuracy tuning, testing, security 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2–3 weeks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4910328"/>
            <a:ext cx="10332720" cy="43891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4956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4956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Deployment &amp; Docs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956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Production deployment, documentation, handoff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956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1–2 weeks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5440680"/>
            <a:ext cx="10332720" cy="50292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87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Total 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532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12–19 weeks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6126480"/>
            <a:ext cx="10332720" cy="5486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8720" y="6172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  <a:latin typeface="Calibri"/>
              </a:defRPr>
            </a:pPr>
            <a:r>
              <a:t>Recommended: Milestone-based payments — 20% upfront, remainder tied to deliverable milestones (M1–M5)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Monthly Infrastructure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Recurring costs scale with URL volume — client pays directly to service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3474720" cy="4572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Calibri"/>
              </a:defRPr>
            </a:pPr>
            <a:r>
              <a:t>Small — 100K URLs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91640"/>
            <a:ext cx="3474720" cy="45720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  <a:latin typeface="Calibri"/>
              </a:defRPr>
            </a:pPr>
            <a:r>
              <a:t>Medium — 1M URLs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91640"/>
            <a:ext cx="3474720" cy="4572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7706"/>
                </a:solidFill>
                <a:latin typeface="Calibri"/>
              </a:defRPr>
            </a:pPr>
            <a:r>
              <a:t>Large — 50M URLs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14600"/>
            <a:ext cx="10515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2560320"/>
            <a:ext cx="10515600" cy="34747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606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Database (PostgreSQL)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606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606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2606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$275–400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2926080"/>
            <a:ext cx="1051560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2971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AI Classification (Claude)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971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$50–100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971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$500–1,000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$10.5K–25K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291840"/>
            <a:ext cx="10515600" cy="34747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3337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Scraping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337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337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3337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$200–500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657600"/>
            <a:ext cx="1051560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Cache &amp; Queues (Redis)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703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703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$50–100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023360"/>
            <a:ext cx="10515600" cy="34747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Edge API (Cloudflare)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069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069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$5–45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389120"/>
            <a:ext cx="1051560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Object 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4434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$15–75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4754880"/>
            <a:ext cx="10515600" cy="34747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8872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Monitoring (LangSmith)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800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4800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$164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$300–500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5120640"/>
            <a:ext cx="1051560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872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Rotating Proxies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166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$50–100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5166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$100–200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$500–1K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5623560"/>
            <a:ext cx="105156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8872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Monthly Total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$170–300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Calibri"/>
              </a:defRPr>
            </a:pPr>
            <a:r>
              <a:t>$1,004–1,704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97706"/>
                </a:solidFill>
                <a:latin typeface="Calibri"/>
              </a:defRPr>
            </a:pPr>
            <a:r>
              <a:t>$12K–28K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6035040"/>
            <a:ext cx="10332720" cy="64008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6080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7706"/>
                </a:solidFill>
                <a:latin typeface="Calibri"/>
              </a:defRPr>
            </a:pPr>
            <a:r>
              <a:t>Note: Claude API is the dominant cost at scale. Pre-filtering heuristics and batch processing can reduce AI costs by 50–70%.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Additional Expenses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One-time setup costs and optional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One-Time Setup Costs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5029200" cy="43891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Claude API initial deposit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$50–100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Pre-paid credits for AI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32888"/>
            <a:ext cx="502920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78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Proxy service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78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$50–100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786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Initial deposit for residential proxy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08376"/>
            <a:ext cx="5029200" cy="43891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540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Domain registration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0540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$10–15/year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54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Custom domain for dashboard &amp;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483864"/>
            <a:ext cx="502920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295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SSL Certificate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5295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295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Provided free by Cloudflare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959352"/>
            <a:ext cx="5029200" cy="438912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005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UMLS License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005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0050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Free federal license (1–3 day approval)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572000"/>
            <a:ext cx="5029200" cy="4572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Total Setup: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$110–215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Calibri"/>
              </a:defRPr>
            </a:pPr>
            <a:r>
              <a:t>Optional Services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057400"/>
            <a:ext cx="5029200" cy="47548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Legal review of scraping approach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$500–2,000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3042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Recommended before Scribd/SlideShare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606040"/>
            <a:ext cx="5029200" cy="47548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Evaluation dataset labeling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51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$500–1,000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8529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If outsourced (included if in-house)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154680"/>
            <a:ext cx="5029200" cy="47548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Post-launch maintenance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200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$1,000–2,000/mo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4015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Monitoring, bug fixes, re-tuning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703320"/>
            <a:ext cx="5029200" cy="47548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Scale optimization consulting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7490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D97706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950207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Performance tuning at 10M+ URLs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Investment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Complete cost overview for the RxScope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3291840" cy="22860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Calibri"/>
              </a:defRPr>
            </a:pPr>
            <a:r>
              <a:t>$18,500 – $30,500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One-time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12–19 weeks, milestone-based</a:t>
            </a:r>
            <a:br/>
            <a:r>
              <a:t>payments tied to deliverables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91640"/>
            <a:ext cx="3291840" cy="228600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Calibri"/>
              </a:defRPr>
            </a:pPr>
            <a:r>
              <a:t>$170 – $1,704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Per month (100K–1M URLs)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Paid directly to cloud providers.</a:t>
            </a:r>
            <a:br/>
            <a:r>
              <a:t>Scales with URL volume.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91640"/>
            <a:ext cx="3291840" cy="22860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97706"/>
                </a:solidFill>
                <a:latin typeface="Calibri"/>
              </a:defRPr>
            </a:pPr>
            <a:r>
              <a:t>Setup &amp; Extras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Calibri"/>
              </a:defRPr>
            </a:pPr>
            <a:r>
              <a:t>$110 – $215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One-time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API deposits, domain,</a:t>
            </a:r>
            <a:br/>
            <a:r>
              <a:t>proxy initial setup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297680"/>
            <a:ext cx="10332720" cy="22860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Recommended Payment Structure (Milestone-Based)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Calibri"/>
              </a:defRPr>
            </a:pPr>
            <a: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Calibri"/>
              </a:defRPr>
            </a:pPr>
            <a:r>
              <a:t>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Calibri"/>
              </a:defRPr>
            </a:pPr>
            <a:r>
              <a:t>Deliverable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B7280"/>
                </a:solidFill>
                <a:latin typeface="Calibri"/>
              </a:defRPr>
            </a:pPr>
            <a:r>
              <a:t>When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4983480"/>
            <a:ext cx="9601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074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Project Kickoff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074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Infrastructure setup, DB schema, evaluation dataset begin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Week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376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376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Proof of Concept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3766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Working classifier on 3,000 PubMed URLs + accuracy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376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Week 4–5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6784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56784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First Whitelist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6784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100K URL whitelist delivered in CSV/XLSX format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678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Week 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9801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59801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Dashboard 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9801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Admin panel with search, export, and HITL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9801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Week 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2819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6281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Production Launch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62819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  <a:latin typeface="Calibri"/>
              </a:defRPr>
            </a:pPr>
            <a:r>
              <a:t>Full system running at target scale with monitoring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6281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Week 18–22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Important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Technical realities to be aware of before project kick-off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94960" cy="13716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Scribd / SlideShare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Scribd has no public API since 2017. Content access is limited to metadata scraping. We recommend starting with legally clean sources (PubMed, open-access journals) in Phase 1, adding Scribd/SlideShare in Phase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394960" cy="13716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Classification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Expect 85–90% accuracy initially, improving to 95%+ after human-in-the-loop feedback cycles. This is standard for AI classification systems — there is a 2–4 week tuning period.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5394960" cy="137160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Cost Scales with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703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At 100K URLs: ~$200/month infrastructure. At 50M URLs: ~$15K–20K/month (dominated by Claude API). Pre-filtering heuristics can reduce AI costs by 50–70%.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291840"/>
            <a:ext cx="5394960" cy="13716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robots.txt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We respect robots.txt on all platforms. Some sites may limit scraping rate. This is a legal requirement and protects the project long-term.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92040"/>
            <a:ext cx="5394960" cy="13716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9834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Ongoing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03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Medical content changes constantly — new drugs, guidelines, HCPs. Whitelists need periodic re-scraping and re-classification. Post-launch maintenance recommended.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892040"/>
            <a:ext cx="5394960" cy="137160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9834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Separate 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303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Development is a one-time cost. Infrastructure is monthly recurring, billed directly by service providers (Anthropic, Cloudflare, etc.) to your accounts.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Questions to finalize scope, and immediate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5029200" cy="384048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Questions We Need From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103120"/>
            <a:ext cx="1828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How many URLs in the first batch?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One-time batch or continuously running system?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Dashboard required, or CSV exports only?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Who provides the seed URL list?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Expected turnaround time?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Which platforms are mandatory for Phase 1?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Specific DSP integration needed?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Budget range for development?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029200" cy="3840480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59669"/>
                </a:solidFill>
                <a:latin typeface="Calibri"/>
              </a:defRPr>
            </a:pPr>
            <a:r>
              <a:t>Once Confirmed — We Begin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103120"/>
            <a:ext cx="182880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Confirm URL volume to finalize cost quote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Agree on milestone-based payment schedule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Confirm Phase 1 platform scope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Sign-off on technology stack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Set up shared cloud accounts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Kick off Phase 0: Foundation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Schedule weekly progress demos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•  Begin 3,000-URL evaluation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806440"/>
            <a:ext cx="10332720" cy="7315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852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Ready to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6126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151"/>
                </a:solidFill>
                <a:latin typeface="Calibri"/>
              </a:defRPr>
            </a:pPr>
            <a:r>
              <a:t>Architecture is researched &amp; documented  •  Technology stack selected  •  Cost models built  •  Awaiting your confirmation to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